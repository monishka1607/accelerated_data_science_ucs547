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999B3-D32A-4B57-959D-D8570A82D22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AFA0-00FC-4668-91BE-D5CD3C1D5D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789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9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82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96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98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47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68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07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40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648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95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6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36BD8-3D6D-4938-AABF-989E6A8D58AB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1493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sreehari.j@samsung.com" TargetMode="External"/><Relationship Id="rId4" Type="http://schemas.openxmlformats.org/officeDocument/2006/relationships/hyperlink" Target="mailto:subin.kb@samsung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83314" y="629808"/>
            <a:ext cx="4779211" cy="60900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133" y="116201"/>
            <a:ext cx="1811867" cy="3808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5191081" y="4788629"/>
            <a:ext cx="6606600" cy="243492"/>
            <a:chOff x="5871622" y="5681136"/>
            <a:chExt cx="5490646" cy="143934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6002866" y="5753103"/>
              <a:ext cx="531706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5871622" y="5681136"/>
              <a:ext cx="199045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7635488" y="5681136"/>
              <a:ext cx="199045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399355" y="5681136"/>
              <a:ext cx="199045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1163223" y="5681136"/>
              <a:ext cx="199045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37966" y="717791"/>
            <a:ext cx="456281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B0F0"/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t>Problem Statement</a:t>
            </a: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alibri Body"/>
              </a:rPr>
              <a:t>Traditional color correction often lacks consideration of individual skin tone variations. Leads to unnatural or biased visual outputs, especially across ethnicities or lighting setups. Skin is a visual anchor: Humans are particularly sensitive to the appearance of skin in photos. A small color shift can greatly affect perceived quality.</a:t>
            </a: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alibri Body"/>
              </a:rPr>
              <a:t>Demographic inclusivity: Addressing a wide range of skin tones </a:t>
            </a: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IN" sz="1200" dirty="0">
              <a:solidFill>
                <a:srgbClr val="000000"/>
              </a:solidFill>
              <a:latin typeface="Calibri Body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alibri Body"/>
              </a:rPr>
              <a:t>Objective: Implement personalized color correction by clustering skin tone regions in perceptually accurate color spaces using techniques like Worley noise.</a:t>
            </a: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alibri Body"/>
              </a:rPr>
              <a:t>Target applications: Mobile cameras, beauty filters, video calls</a:t>
            </a:r>
            <a:endParaRPr lang="en-IN" sz="1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83299" y="583168"/>
            <a:ext cx="714293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Expectations</a:t>
            </a:r>
          </a:p>
          <a:p>
            <a:pPr algn="just"/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pPr algn="just">
              <a:buClr>
                <a:srgbClr val="7F7F7F"/>
              </a:buClr>
              <a:buSzPts val="1100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Develop a modular worklet or plugin for skin-tone aware color correction.</a:t>
            </a:r>
          </a:p>
          <a:p>
            <a:pPr algn="just">
              <a:buClr>
                <a:srgbClr val="7F7F7F"/>
              </a:buClr>
              <a:buSzPts val="1100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Explore and benchmark clustering approaches: k-means, GMM</a:t>
            </a:r>
          </a:p>
          <a:p>
            <a:pPr algn="just">
              <a:buClr>
                <a:srgbClr val="7F7F7F"/>
              </a:buClr>
              <a:buSzPts val="1100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Integrate perceptual tone-mapping and LUT corrections.</a:t>
            </a:r>
          </a:p>
          <a:p>
            <a:pPr algn="just">
              <a:buClr>
                <a:srgbClr val="7F7F7F"/>
              </a:buClr>
              <a:buSzPts val="1100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Design for adaptability across lighting and skin profiles.</a:t>
            </a:r>
          </a:p>
          <a:p>
            <a:pPr algn="just">
              <a:buClr>
                <a:srgbClr val="7F7F7F"/>
              </a:buClr>
              <a:buSzPts val="1100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Deliver API interface + documentation.</a:t>
            </a:r>
          </a:p>
          <a:p>
            <a:pPr lvl="0">
              <a:spcBef>
                <a:spcPts val="600"/>
              </a:spcBef>
              <a:buClr>
                <a:srgbClr val="7F7F7F"/>
              </a:buClr>
              <a:buSzPts val="1100"/>
            </a:pPr>
            <a:r>
              <a:rPr lang="en-IN" sz="1400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  <a:sym typeface="Arial"/>
              </a:rPr>
              <a:t>Training/ Pre-requisites</a:t>
            </a:r>
          </a:p>
          <a:p>
            <a:pPr marL="177800" lvl="0" indent="-177800" algn="just">
              <a:buClr>
                <a:srgbClr val="7F7F7F"/>
              </a:buClr>
              <a:buSzPts val="1100"/>
              <a:buFont typeface="Arial"/>
              <a:buChar char="•"/>
            </a:pPr>
            <a:endParaRPr lang="en-IN" sz="11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lvl="0" indent="-177800" algn="just">
              <a:buClr>
                <a:srgbClr val="7F7F7F"/>
              </a:buClr>
              <a:buSzPts val="1100"/>
              <a:buFont typeface="Arial"/>
              <a:buChar char="•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Basics of image processing (OpenCV)</a:t>
            </a:r>
          </a:p>
          <a:p>
            <a:pPr marL="177800" lvl="0" indent="-177800" algn="just">
              <a:buClr>
                <a:srgbClr val="7F7F7F"/>
              </a:buClr>
              <a:buSzPts val="1100"/>
              <a:buFont typeface="Arial"/>
              <a:buChar char="•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Color space theory: RGB, HSV</a:t>
            </a:r>
          </a:p>
          <a:p>
            <a:pPr marL="177800" lvl="0" indent="-177800" algn="just">
              <a:buClr>
                <a:srgbClr val="7F7F7F"/>
              </a:buClr>
              <a:buSzPts val="1100"/>
              <a:buFont typeface="Arial"/>
              <a:buChar char="•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Clustering algorithms: k-means ,X-means</a:t>
            </a:r>
          </a:p>
          <a:p>
            <a:pPr marL="177800" lvl="0" indent="-177800" algn="just">
              <a:buClr>
                <a:srgbClr val="7F7F7F"/>
              </a:buClr>
              <a:buSzPts val="1100"/>
              <a:buFont typeface="Arial"/>
              <a:buChar char="•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Programming skills: Python</a:t>
            </a:r>
          </a:p>
          <a:p>
            <a:pPr marL="177800" lvl="0" indent="-177800" algn="just">
              <a:buClr>
                <a:srgbClr val="7F7F7F"/>
              </a:buClr>
              <a:buSzPts val="1100"/>
              <a:buFont typeface="Arial"/>
              <a:buChar char="•"/>
            </a:pPr>
            <a:r>
              <a:rPr lang="en-IN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Machine Learning, Deep Learning</a:t>
            </a:r>
            <a:endParaRPr lang="en-IN" sz="11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buClr>
                <a:srgbClr val="7F7F7F"/>
              </a:buClr>
              <a:buSzPts val="1100"/>
            </a:pPr>
            <a:r>
              <a:rPr lang="en-IN" sz="1400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  <a:sym typeface="Arial"/>
              </a:rPr>
              <a:t>References</a:t>
            </a:r>
          </a:p>
          <a:p>
            <a:pPr marL="177800" indent="-177800" algn="just">
              <a:buClr>
                <a:srgbClr val="7F7F7F"/>
              </a:buClr>
              <a:buSzPts val="1100"/>
              <a:buFont typeface="Arial"/>
              <a:buChar char="•"/>
            </a:pP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MDPI (2021): Personalized Color Correction Using Skin Tone Clustering</a:t>
            </a:r>
          </a:p>
          <a:p>
            <a:pPr marL="177800" indent="-177800" algn="just">
              <a:buClr>
                <a:srgbClr val="7F7F7F"/>
              </a:buClr>
              <a:buSzPts val="1100"/>
              <a:buFont typeface="Arial"/>
              <a:buChar char="•"/>
            </a:pPr>
            <a:r>
              <a:rPr lang="en-IN" sz="11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Arxiv</a:t>
            </a: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(2025): </a:t>
            </a:r>
            <a:r>
              <a:rPr lang="en-IN" sz="11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Matter: Classification of Skin Tones by Clustering </a:t>
            </a:r>
            <a:r>
              <a:rPr lang="en-IN" sz="11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https://arxiv.org/abs/2505.14931</a:t>
            </a:r>
            <a:endParaRPr lang="en-IN" sz="11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indent="-177800" algn="just">
              <a:buClr>
                <a:srgbClr val="7F7F7F"/>
              </a:buClr>
              <a:buSzPts val="1100"/>
              <a:buFont typeface="Arial"/>
              <a:buChar char="•"/>
            </a:pPr>
            <a:endParaRPr lang="en-IN" sz="11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78088" y="587626"/>
            <a:ext cx="4116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Work-let expected duration – 6 months</a:t>
            </a:r>
          </a:p>
        </p:txBody>
      </p:sp>
      <p:sp>
        <p:nvSpPr>
          <p:cNvPr id="29" name="Oval 28"/>
          <p:cNvSpPr/>
          <p:nvPr/>
        </p:nvSpPr>
        <p:spPr>
          <a:xfrm>
            <a:off x="11352987" y="583168"/>
            <a:ext cx="494942" cy="4937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4705" y="1031393"/>
            <a:ext cx="1163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Students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898" y="146255"/>
            <a:ext cx="1024370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Calibri Body"/>
                <a:ea typeface="Malgun Gothic" panose="020B0503020000020004" pitchFamily="34" charset="-127"/>
                <a:cs typeface="Mangal" panose="02040503050203030202" pitchFamily="18" charset="0"/>
              </a:rPr>
              <a:t>Personalized Color Correction via Skin Tone Clustering </a:t>
            </a:r>
          </a:p>
        </p:txBody>
      </p:sp>
      <p:grpSp>
        <p:nvGrpSpPr>
          <p:cNvPr id="28" name="Google Shape;116;p14"/>
          <p:cNvGrpSpPr/>
          <p:nvPr/>
        </p:nvGrpSpPr>
        <p:grpSpPr>
          <a:xfrm>
            <a:off x="5027046" y="5122900"/>
            <a:ext cx="7215698" cy="1735100"/>
            <a:chOff x="5052445" y="3948437"/>
            <a:chExt cx="7215698" cy="1735100"/>
          </a:xfrm>
        </p:grpSpPr>
        <p:sp>
          <p:nvSpPr>
            <p:cNvPr id="33" name="Google Shape;117;p14"/>
            <p:cNvSpPr txBox="1"/>
            <p:nvPr/>
          </p:nvSpPr>
          <p:spPr>
            <a:xfrm>
              <a:off x="5052445" y="3948437"/>
              <a:ext cx="1856400" cy="1304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Kick Off &lt; 1</a:t>
              </a:r>
              <a:r>
                <a:rPr lang="en-IN" sz="120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</a:t>
              </a:r>
              <a:r>
                <a:rPr lang="en-IN" sz="12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Month &gt;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Research review</a:t>
              </a:r>
              <a:r>
                <a:rPr lang="en-IN" sz="12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dataset collection, environment setup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 Monk Skin Tone Definition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Skin Region Detection</a:t>
              </a:r>
              <a:endParaRPr sz="800" dirty="0"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36" name="Google Shape;118;p14"/>
            <p:cNvSpPr txBox="1"/>
            <p:nvPr/>
          </p:nvSpPr>
          <p:spPr>
            <a:xfrm>
              <a:off x="6829878" y="3948437"/>
              <a:ext cx="1922400" cy="12522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Milestone 1 &lt; 3</a:t>
              </a:r>
              <a:r>
                <a:rPr lang="en-IN" sz="110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r>
                <a:rPr lang="en-IN" sz="11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Month &gt;</a:t>
              </a:r>
              <a:endParaRPr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</a:rPr>
                <a:t>Face/skin detection module + baseline clustering (k-means)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</a:rPr>
                <a:t>Reference tone map &amp; Worley integration</a:t>
              </a:r>
            </a:p>
          </p:txBody>
        </p:sp>
        <p:sp>
          <p:nvSpPr>
            <p:cNvPr id="39" name="Google Shape;119;p14"/>
            <p:cNvSpPr txBox="1"/>
            <p:nvPr/>
          </p:nvSpPr>
          <p:spPr>
            <a:xfrm>
              <a:off x="8665210" y="3948437"/>
              <a:ext cx="1930500" cy="1149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Milestone 2 &lt; 5</a:t>
              </a:r>
              <a:r>
                <a:rPr lang="en-IN" sz="110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</a:t>
              </a:r>
              <a:r>
                <a:rPr lang="en-IN" sz="11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Month &gt;</a:t>
              </a:r>
              <a:endParaRPr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cs typeface="Arial" panose="020B0604020202020204" pitchFamily="34" charset="0"/>
                </a:rPr>
                <a:t>Personalized color correction logic + LUT implementation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Trebuchet MS" panose="020B0603020202020204" pitchFamily="34" charset="0"/>
                  <a:ea typeface="SamsungOne 600C" panose="020B0706030303020204" pitchFamily="34" charset="0"/>
                </a:rPr>
                <a:t>Evaluation metrics setup: ΔE, perceptual quality tests</a:t>
              </a:r>
            </a:p>
            <a:p>
              <a:pPr marL="17145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endParaRPr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20;p14"/>
            <p:cNvSpPr txBox="1"/>
            <p:nvPr/>
          </p:nvSpPr>
          <p:spPr>
            <a:xfrm>
              <a:off x="10508643" y="3948437"/>
              <a:ext cx="1759500" cy="173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Closure &lt; 6</a:t>
              </a:r>
              <a:r>
                <a:rPr lang="en-IN" sz="120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</a:t>
              </a:r>
              <a:r>
                <a:rPr lang="en-IN" sz="12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Month &gt;</a:t>
              </a:r>
              <a:endParaRPr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ea typeface="SamsungOne 600C" panose="020B0706030303020204" pitchFamily="34" charset="0"/>
                  <a:cs typeface="Arial" panose="020B0604020202020204" pitchFamily="34" charset="0"/>
                </a:rPr>
                <a:t>Final prototype + UI/worklet + documentation/demo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n-IN" sz="800" dirty="0"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ea typeface="SamsungOne 600C" panose="020B0706030303020204" pitchFamily="34" charset="0"/>
                  <a:cs typeface="Arial" panose="020B0604020202020204" pitchFamily="34" charset="0"/>
                </a:rPr>
                <a:t>A modular prototype Supports tone-aware, cluster-based color correction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ea typeface="SamsungOne 600C" panose="020B0706030303020204" pitchFamily="34" charset="0"/>
                  <a:cs typeface="Arial" panose="020B0604020202020204" pitchFamily="34" charset="0"/>
                </a:rPr>
                <a:t>Enhances realism and fairness in visual rendering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n-IN" sz="800" dirty="0">
                  <a:latin typeface="Arial" panose="020B0604020202020204" pitchFamily="34" charset="0"/>
                  <a:ea typeface="SamsungOne 600C" panose="020B0706030303020204" pitchFamily="34" charset="0"/>
                  <a:cs typeface="Arial" panose="020B0604020202020204" pitchFamily="34" charset="0"/>
                </a:rPr>
                <a:t>Ready for integration in camera pipelines, mobile apps, or filters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2577288" y="5973844"/>
            <a:ext cx="16022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Prabodh Kumar Jana</a:t>
            </a:r>
          </a:p>
          <a:p>
            <a:pPr algn="ctr"/>
            <a:r>
              <a:rPr lang="en-IN" sz="800" dirty="0">
                <a:solidFill>
                  <a:srgbClr val="0070C0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4"/>
              </a:rPr>
              <a:t>Prabodh.kj@samsung.com</a:t>
            </a:r>
            <a:endParaRPr lang="en-IN" sz="800" dirty="0">
              <a:solidFill>
                <a:srgbClr val="0070C0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algn="ctr"/>
            <a:endParaRPr lang="en-IN" sz="8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3A7B0E-8809-4D1D-AB0D-230167745B68}"/>
              </a:ext>
            </a:extLst>
          </p:cNvPr>
          <p:cNvSpPr txBox="1"/>
          <p:nvPr/>
        </p:nvSpPr>
        <p:spPr>
          <a:xfrm>
            <a:off x="4983299" y="4330952"/>
            <a:ext cx="71429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Execution plan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pPr marL="177800" lvl="0" indent="-177800" algn="just">
              <a:buClr>
                <a:srgbClr val="7F7F7F"/>
              </a:buClr>
              <a:buSzPts val="1100"/>
              <a:buFont typeface="Arial"/>
              <a:buChar char="•"/>
            </a:pPr>
            <a:endParaRPr lang="en-IN" sz="11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BD2A51-AB18-4FA0-B642-8BF4A2B8E0DB}"/>
              </a:ext>
            </a:extLst>
          </p:cNvPr>
          <p:cNvSpPr txBox="1"/>
          <p:nvPr/>
        </p:nvSpPr>
        <p:spPr>
          <a:xfrm>
            <a:off x="519923" y="5971910"/>
            <a:ext cx="160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Amit Raj </a:t>
            </a:r>
            <a:endParaRPr lang="en-IN" sz="800" dirty="0">
              <a:solidFill>
                <a:srgbClr val="0070C0"/>
              </a:solidFill>
              <a:latin typeface="SamsungOne 600C" panose="020B0706030303020204" pitchFamily="34" charset="0"/>
              <a:ea typeface="SamsungOne 600C" panose="020B0706030303020204" pitchFamily="34" charset="0"/>
              <a:hlinkClick r:id="rId5"/>
            </a:endParaRPr>
          </a:p>
          <a:p>
            <a:pPr algn="ctr"/>
            <a:r>
              <a:rPr lang="en-IN" sz="800" dirty="0">
                <a:solidFill>
                  <a:srgbClr val="0070C0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5"/>
              </a:rPr>
              <a:t>Amit.raj2j@samsung.com</a:t>
            </a:r>
            <a:endParaRPr lang="en-IN" sz="800" dirty="0">
              <a:solidFill>
                <a:srgbClr val="0070C0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algn="ctr"/>
            <a:endParaRPr lang="en-IN" sz="8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816AA-78F7-428C-8EE6-C17733B968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2" y="3265823"/>
            <a:ext cx="4085660" cy="248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060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3939</TotalTime>
  <Words>357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Body</vt:lpstr>
      <vt:lpstr>Calibri Light</vt:lpstr>
      <vt:lpstr>SamsungOne 400</vt:lpstr>
      <vt:lpstr>SamsungOne 600C</vt:lpstr>
      <vt:lpstr>Trebuchet MS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Muneeswaran Santhanam/Visual Quality Solutions /SRI-Bangalore/Assistant Engineer/Samsung Electronics</dc:creator>
  <cp:lastModifiedBy>PRABODH KUMAR JANA/Visual Image Quality /SRI-Bangalore/Staff Engineer/Samsung Electronics</cp:lastModifiedBy>
  <cp:revision>87</cp:revision>
  <dcterms:created xsi:type="dcterms:W3CDTF">2023-06-08T15:23:18Z</dcterms:created>
  <dcterms:modified xsi:type="dcterms:W3CDTF">2025-07-23T10:37:21Z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